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89888"/>
            <a:ext cx="292608" cy="27432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124358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5C6BA"/>
                </a:solidFill>
                <a:latin typeface="Consolas"/>
                <a:ea typeface="Consolas"/>
              </a:rPr>
              <a:t>WIND TURBINE FAULT DIAGNOSIS · 风电运维智能诊断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4400" b="1">
                <a:solidFill>
                  <a:srgbClr val="EAF0F5"/>
                </a:solidFill>
                <a:latin typeface="微软雅黑"/>
                <a:ea typeface="微软雅黑"/>
              </a:rPr>
              <a:t>Windrise 风起时域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0">
                <a:solidFill>
                  <a:srgbClr val="A6B6C4"/>
                </a:solidFill>
                <a:latin typeface="微软雅黑"/>
                <a:ea typeface="微软雅黑"/>
              </a:rPr>
              <a:t>面向风电机组故障处理的本地化知识构建与检索增强问答系统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A6B6C4"/>
                </a:solidFill>
                <a:latin typeface="微软雅黑"/>
                <a:ea typeface="微软雅黑"/>
              </a:rPr>
              <a:t>把本地风电资料构建为带机型约束、来源证据与故障机理的领域知识；由本地/内网模型在该知识约束下生成可核查、可续推的现场排查答案。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120640"/>
            <a:ext cx="2514600" cy="96012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2578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35C6BA"/>
                </a:solidFill>
                <a:latin typeface="Consolas"/>
                <a:ea typeface="Consolas"/>
              </a:rPr>
              <a:t>11,865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74243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6B6C4"/>
                </a:solidFill>
                <a:latin typeface="微软雅黑"/>
                <a:ea typeface="微软雅黑"/>
              </a:rPr>
              <a:t>故障记录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5120640"/>
            <a:ext cx="2514600" cy="96012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52578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35C6BA"/>
                </a:solidFill>
                <a:latin typeface="Consolas"/>
                <a:ea typeface="Consolas"/>
              </a:rPr>
              <a:t>2,491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574243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6B6C4"/>
                </a:solidFill>
                <a:latin typeface="微软雅黑"/>
                <a:ea typeface="微软雅黑"/>
              </a:rPr>
              <a:t>知识图谱节点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120640"/>
            <a:ext cx="2514600" cy="96012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52578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57C28C"/>
                </a:solidFill>
                <a:latin typeface="Consolas"/>
                <a:ea typeface="Consolas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574243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6B6C4"/>
                </a:solidFill>
                <a:latin typeface="微软雅黑"/>
                <a:ea typeface="微软雅黑"/>
              </a:rPr>
              <a:t>机理·验证闭环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5120640"/>
            <a:ext cx="2514600" cy="96012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52578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E0A94A"/>
                </a:solidFill>
                <a:latin typeface="Consolas"/>
                <a:ea typeface="Consolas"/>
              </a:rPr>
              <a:t>本地/离线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574243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6B6C4"/>
                </a:solidFill>
                <a:latin typeface="微软雅黑"/>
                <a:ea typeface="微软雅黑"/>
              </a:rPr>
              <a:t>数据不外发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292608" cy="27432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512063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5C6BA"/>
                </a:solidFill>
                <a:latin typeface="Consolas"/>
                <a:ea typeface="Consolas"/>
              </a:rPr>
              <a:t>01 · 现有方式解决不了的现场难题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EAF0F5"/>
                </a:solidFill>
                <a:latin typeface="微软雅黑"/>
                <a:ea typeface="微软雅黑"/>
              </a:rPr>
              <a:t>五类现有方法都只处理文本相似度，未利用运维关系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3429000" cy="173736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54864" cy="1737360"/>
          </a:xfrm>
          <a:prstGeom prst="rect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EAF0F5"/>
                </a:solidFill>
                <a:latin typeface="微软雅黑"/>
                <a:ea typeface="微软雅黑"/>
              </a:rPr>
              <a:t>同码异义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24328"/>
            <a:ext cx="30175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A6B6C4"/>
                </a:solidFill>
                <a:latin typeface="微软雅黑"/>
                <a:ea typeface="微软雅黑"/>
              </a:rPr>
              <a:t>同一数字故障码在不同机型下含义不同，单码最多 19 种含义，按数字检索极易查错手册。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65960"/>
            <a:ext cx="3429000" cy="173736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965960"/>
            <a:ext cx="54864" cy="1737360"/>
          </a:xfrm>
          <a:prstGeom prst="rect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488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EAF0F5"/>
                </a:solidFill>
                <a:latin typeface="微软雅黑"/>
                <a:ea typeface="微软雅黑"/>
              </a:rPr>
              <a:t>资料分散格式不一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24328"/>
            <a:ext cx="30175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A6B6C4"/>
                </a:solidFill>
                <a:latin typeface="微软雅黑"/>
                <a:ea typeface="微软雅黑"/>
              </a:rPr>
              <a:t>厂家/机型/风场资料格式各异(PDF/Word/RTF/CSV)，难以统一组织。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965960"/>
            <a:ext cx="3429000" cy="173736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965960"/>
            <a:ext cx="54864" cy="1737360"/>
          </a:xfrm>
          <a:prstGeom prst="rect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1488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EAF0F5"/>
                </a:solidFill>
                <a:latin typeface="微软雅黑"/>
                <a:ea typeface="微软雅黑"/>
              </a:rPr>
              <a:t>检索无法表达关系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624328"/>
            <a:ext cx="30175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A6B6C4"/>
                </a:solidFill>
                <a:latin typeface="微软雅黑"/>
                <a:ea typeface="微软雅黑"/>
              </a:rPr>
              <a:t>答不出'属于哪个系统、哪个部件、由什么原因触发、应先查什么、依据来自哪份资料'。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840479"/>
            <a:ext cx="3429000" cy="173736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840479"/>
            <a:ext cx="54864" cy="1737360"/>
          </a:xfrm>
          <a:prstGeom prst="rect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02335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EAF0F5"/>
                </a:solidFill>
                <a:latin typeface="微软雅黑"/>
                <a:ea typeface="微软雅黑"/>
              </a:rPr>
              <a:t>通用模型答案无依据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498847"/>
            <a:ext cx="30175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A6B6C4"/>
                </a:solidFill>
                <a:latin typeface="微软雅黑"/>
                <a:ea typeface="微软雅黑"/>
              </a:rPr>
              <a:t>语言流畅但缺本地约束，不可追溯，现场专工无法审核。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840479"/>
            <a:ext cx="3429000" cy="173736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840479"/>
            <a:ext cx="54864" cy="1737360"/>
          </a:xfrm>
          <a:prstGeom prst="rect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02335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EAF0F5"/>
                </a:solidFill>
                <a:latin typeface="微软雅黑"/>
                <a:ea typeface="微软雅黑"/>
              </a:rPr>
              <a:t>单轮难支持多轮排查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498847"/>
            <a:ext cx="30175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A6B6C4"/>
                </a:solidFill>
                <a:latin typeface="微软雅黑"/>
                <a:ea typeface="微软雅黑"/>
              </a:rPr>
              <a:t>现场靠'正常/异常/压力上不来'短反馈推进，单轮检索无法据此续推。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3840479"/>
            <a:ext cx="3429000" cy="173736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3840479"/>
            <a:ext cx="54864" cy="1737360"/>
          </a:xfrm>
          <a:prstGeom prst="rect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402335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EAF0F5"/>
                </a:solidFill>
                <a:latin typeface="微软雅黑"/>
                <a:ea typeface="微软雅黑"/>
              </a:rPr>
              <a:t>数据外发风险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498847"/>
            <a:ext cx="30175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A6B6C4"/>
                </a:solidFill>
                <a:latin typeface="微软雅黑"/>
                <a:ea typeface="微软雅黑"/>
              </a:rPr>
              <a:t>风场资料与检修经验属企业内部，依赖公网模型有外发风险。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292608" cy="27432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512063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5C6BA"/>
                </a:solidFill>
                <a:latin typeface="Consolas"/>
                <a:ea typeface="Consolas"/>
              </a:rPr>
              <a:t>02 · 六层核心创新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EAF0F5"/>
                </a:solidFill>
                <a:latin typeface="微软雅黑"/>
                <a:ea typeface="微软雅黑"/>
              </a:rPr>
              <a:t>从资料到多轮排查，构成一条完整诊断流水线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749808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929384"/>
            <a:ext cx="685800" cy="457200"/>
          </a:xfrm>
          <a:prstGeom prst="roundRect">
            <a:avLst/>
          </a:prstGeom>
          <a:noFill/>
          <a:ln w="19050">
            <a:solidFill>
              <a:srgbClr val="35C6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9384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35C6BA"/>
                </a:solidFill>
                <a:latin typeface="Consolas"/>
                <a:ea typeface="Consolas"/>
              </a:rP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83664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EAF0F5"/>
                </a:solidFill>
                <a:latin typeface="微软雅黑"/>
                <a:ea typeface="微软雅黑"/>
              </a:rPr>
              <a:t>本地化领域知识构建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883664"/>
            <a:ext cx="6126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A6B6C4"/>
                </a:solidFill>
                <a:latin typeface="微软雅黑"/>
                <a:ea typeface="微软雅黑"/>
              </a:rPr>
              <a:t>抽取故障码·机型·系统·部件·原因·处理·来源，归一化+别名保留(5645 别名)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749808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2752344"/>
            <a:ext cx="685800" cy="457200"/>
          </a:xfrm>
          <a:prstGeom prst="roundRect">
            <a:avLst/>
          </a:prstGeom>
          <a:noFill/>
          <a:ln w="19050">
            <a:solidFill>
              <a:srgbClr val="35C6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52344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35C6BA"/>
                </a:solidFill>
                <a:latin typeface="Consolas"/>
                <a:ea typeface="Consolas"/>
              </a:rPr>
              <a:t>L2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706624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EAF0F5"/>
                </a:solidFill>
                <a:latin typeface="微软雅黑"/>
                <a:ea typeface="微软雅黑"/>
              </a:rPr>
              <a:t>同码异义消歧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706624"/>
            <a:ext cx="6126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A6B6C4"/>
                </a:solidFill>
                <a:latin typeface="微软雅黑"/>
                <a:ea typeface="微软雅黑"/>
              </a:rPr>
              <a:t>结合风场/机型/上下文限定检索范围，范围不明主动提示并给区分条件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429000"/>
            <a:ext cx="10515600" cy="749808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3575304"/>
            <a:ext cx="685800" cy="457200"/>
          </a:xfrm>
          <a:prstGeom prst="roundRect">
            <a:avLst/>
          </a:prstGeom>
          <a:noFill/>
          <a:ln w="19050">
            <a:solidFill>
              <a:srgbClr val="35C6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75304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35C6BA"/>
                </a:solidFill>
                <a:latin typeface="Consolas"/>
                <a:ea typeface="Consolas"/>
              </a:rPr>
              <a:t>L3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529584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EAF0F5"/>
                </a:solidFill>
                <a:latin typeface="微软雅黑"/>
                <a:ea typeface="微软雅黑"/>
              </a:rPr>
              <a:t>故障机理归纳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529584"/>
            <a:ext cx="6126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A6B6C4"/>
                </a:solidFill>
                <a:latin typeface="微软雅黑"/>
                <a:ea typeface="微软雅黑"/>
              </a:rPr>
              <a:t>挂接液压/机械/电气/信号/通信/保护 6 类机理原型，答'为什么、验证哪个量'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51960"/>
            <a:ext cx="10515600" cy="749808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0120" y="4398264"/>
            <a:ext cx="685800" cy="457200"/>
          </a:xfrm>
          <a:prstGeom prst="roundRect">
            <a:avLst/>
          </a:prstGeom>
          <a:noFill/>
          <a:ln w="19050">
            <a:solidFill>
              <a:srgbClr val="35C6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398264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35C6BA"/>
                </a:solidFill>
                <a:latin typeface="Consolas"/>
                <a:ea typeface="Consolas"/>
              </a:rPr>
              <a:t>L4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352544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EAF0F5"/>
                </a:solidFill>
                <a:latin typeface="微软雅黑"/>
                <a:ea typeface="微软雅黑"/>
              </a:rPr>
              <a:t>鉴别诊断与反事实验证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352544"/>
            <a:ext cx="6126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A6B6C4"/>
                </a:solidFill>
                <a:latin typeface="微软雅黑"/>
                <a:ea typeface="微软雅黑"/>
              </a:rPr>
              <a:t>机理竞争时给区分证据与反事实试验，把换件经验升级为可证伪根因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074920"/>
            <a:ext cx="10515600" cy="749808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0120" y="5221224"/>
            <a:ext cx="685800" cy="457200"/>
          </a:xfrm>
          <a:prstGeom prst="roundRect">
            <a:avLst/>
          </a:prstGeom>
          <a:noFill/>
          <a:ln w="19050">
            <a:solidFill>
              <a:srgbClr val="35C6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221224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35C6BA"/>
                </a:solidFill>
                <a:latin typeface="Consolas"/>
                <a:ea typeface="Consolas"/>
              </a:rPr>
              <a:t>L5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175504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EAF0F5"/>
                </a:solidFill>
                <a:latin typeface="微软雅黑"/>
                <a:ea typeface="微软雅黑"/>
              </a:rPr>
              <a:t>证据回溯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175504"/>
            <a:ext cx="6126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A6B6C4"/>
                </a:solidFill>
                <a:latin typeface="微软雅黑"/>
                <a:ea typeface="微软雅黑"/>
              </a:rPr>
              <a:t>结论可回溯到本地条目/机型/部件/来源资料，现场专工可核对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897880"/>
            <a:ext cx="10515600" cy="749808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0120" y="6044184"/>
            <a:ext cx="685800" cy="457200"/>
          </a:xfrm>
          <a:prstGeom prst="roundRect">
            <a:avLst/>
          </a:prstGeom>
          <a:noFill/>
          <a:ln w="19050">
            <a:solidFill>
              <a:srgbClr val="35C6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6044184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35C6BA"/>
                </a:solidFill>
                <a:latin typeface="Consolas"/>
                <a:ea typeface="Consolas"/>
              </a:rPr>
              <a:t>L6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998464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EAF0F5"/>
                </a:solidFill>
                <a:latin typeface="微软雅黑"/>
                <a:ea typeface="微软雅黑"/>
              </a:rPr>
              <a:t>多轮短反馈排查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998464"/>
            <a:ext cx="6126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A6B6C4"/>
                </a:solidFill>
                <a:latin typeface="微软雅黑"/>
                <a:ea typeface="微软雅黑"/>
              </a:rPr>
              <a:t>保存状态、短反馈续推、话题归拢，结构化输出'判断→验证→标准→反馈'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292608" cy="27432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512063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5C6BA"/>
                </a:solidFill>
                <a:latin typeface="Consolas"/>
                <a:ea typeface="Consolas"/>
              </a:rPr>
              <a:t>03 · 原理层创新 · 不止工程，更在原理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EAF0F5"/>
                </a:solidFill>
                <a:latin typeface="微软雅黑"/>
                <a:ea typeface="微软雅黑"/>
              </a:rPr>
              <a:t>六层能力背后，是四条原理级创新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166360" cy="1874519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54864" cy="1874519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EAF0F5"/>
                </a:solidFill>
                <a:latin typeface="微软雅黑"/>
                <a:ea typeface="微软雅黑"/>
              </a:rPr>
              <a:t>信息论消歧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9464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35C6BA"/>
                </a:solidFill>
                <a:latin typeface="微软雅黑"/>
                <a:ea typeface="微软雅黑"/>
              </a:rPr>
              <a:t>检索后启发式补救  →  检索前信息论主动门控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36391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>
                <a:solidFill>
                  <a:srgbClr val="A6B6C4"/>
                </a:solidFill>
                <a:latin typeface="微软雅黑"/>
                <a:ea typeface="微软雅黑"/>
              </a:rPr>
              <a:t>把同码异义形式化为含义分布熵 H(c)，用单一可解释标量在检索前量化消歧风险并主动决策。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65960"/>
            <a:ext cx="5166360" cy="1874519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965960"/>
            <a:ext cx="54864" cy="1874519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488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EAF0F5"/>
                </a:solidFill>
                <a:latin typeface="微软雅黑"/>
                <a:ea typeface="微软雅黑"/>
              </a:rPr>
              <a:t>故障机理因果化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69464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35C6BA"/>
                </a:solidFill>
                <a:latin typeface="微软雅黑"/>
                <a:ea typeface="微软雅黑"/>
              </a:rPr>
              <a:t>“故障码是什么”  →  “为什么发生、该验证哪个量”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136391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>
                <a:solidFill>
                  <a:srgbClr val="A6B6C4"/>
                </a:solidFill>
                <a:latin typeface="微软雅黑"/>
                <a:ea typeface="微软雅黑"/>
              </a:rPr>
              <a:t>机理原型→失效模式→传播路径→可观测量→验证试验→控制屏障，把标签升级为可推理的因果链。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05072"/>
            <a:ext cx="5166360" cy="1874519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005072"/>
            <a:ext cx="54864" cy="1874519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18795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EAF0F5"/>
                </a:solidFill>
                <a:latin typeface="微软雅黑"/>
                <a:ea typeface="微软雅黑"/>
              </a:rPr>
              <a:t>反事实可证伪诊断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608576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35C6BA"/>
                </a:solidFill>
                <a:latin typeface="微软雅黑"/>
                <a:ea typeface="微软雅黑"/>
              </a:rPr>
              <a:t>凭经验换件试错  →  可证伪的根因判定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755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>
                <a:solidFill>
                  <a:srgbClr val="A6B6C4"/>
                </a:solidFill>
                <a:latin typeface="微软雅黑"/>
                <a:ea typeface="微软雅黑"/>
              </a:rPr>
              <a:t>机理竞争时给区分证据与反事实试验，把排障纳入证伪逻辑，而非逐个替换零件的试错。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005072"/>
            <a:ext cx="5166360" cy="1874519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005072"/>
            <a:ext cx="54864" cy="1874519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18795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EAF0F5"/>
                </a:solidFill>
                <a:latin typeface="微软雅黑"/>
                <a:ea typeface="微软雅黑"/>
              </a:rPr>
              <a:t>可采纳性形式保证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608576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35C6BA"/>
                </a:solidFill>
                <a:latin typeface="微软雅黑"/>
                <a:ea typeface="微软雅黑"/>
              </a:rPr>
              <a:t>检索可能放大歧义  →  候选集合恒不放大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17550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>
                <a:solidFill>
                  <a:srgbClr val="A6B6C4"/>
                </a:solidFill>
                <a:latin typeface="微软雅黑"/>
                <a:ea typeface="微软雅黑"/>
              </a:rPr>
              <a:t>范围约束下可证 A(q,s) ⊆ F(c) 恒成立：消歧只缩小候选、绝不引入新的歧义来源。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292608" cy="27432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512063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5C6BA"/>
                </a:solidFill>
                <a:latin typeface="Consolas"/>
                <a:ea typeface="Consolas"/>
              </a:rPr>
              <a:t>04 · 机理增强知识图谱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EAF0F5"/>
                </a:solidFill>
                <a:latin typeface="微软雅黑"/>
                <a:ea typeface="微软雅黑"/>
              </a:rPr>
              <a:t>把'故障码是什么'升级为'为什么发生、如何验证'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6692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35C6BA"/>
                </a:solidFill>
                <a:latin typeface="微软雅黑"/>
                <a:ea typeface="微软雅黑"/>
              </a:rPr>
              <a:t>机理推理节点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A6B6C4"/>
                </a:solidFill>
                <a:latin typeface="Consolas"/>
                <a:ea typeface="Consolas"/>
              </a:rPr>
              <a:t>mechanism_archetype · failure_mode · propagation_step · observable · verification_test · control_barrier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600" b="0">
                <a:solidFill>
                  <a:srgbClr val="EAF0F5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35C6BA"/>
                </a:solidFill>
                <a:latin typeface="微软雅黑"/>
                <a:ea typeface="微软雅黑"/>
              </a:rPr>
              <a:t>竞争机理判别节点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A6B6C4"/>
                </a:solidFill>
                <a:latin typeface="Consolas"/>
                <a:ea typeface="Consolas"/>
              </a:rPr>
              <a:t>diagnostic_hypothesis · discriminating_evidence · counterfactual_test · decision_rule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600" b="0">
                <a:solidFill>
                  <a:srgbClr val="EAF0F5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AF0F5"/>
                </a:solidFill>
                <a:latin typeface="微软雅黑"/>
                <a:ea typeface="微软雅黑"/>
              </a:rPr>
              <a:t>回答现场真正关心的三问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A6B6C4"/>
                </a:solidFill>
                <a:latin typeface="微软雅黑"/>
                <a:ea typeface="微软雅黑"/>
              </a:rPr>
              <a:t>为什么发生？为什么查这个量？如何证根因而非凭经验换件？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74519"/>
            <a:ext cx="1417320" cy="109728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2057400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35C6BA"/>
                </a:solidFill>
                <a:latin typeface="Consolas"/>
                <a:ea typeface="Consola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587752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A6B6C4"/>
                </a:solidFill>
                <a:latin typeface="微软雅黑"/>
                <a:ea typeface="微软雅黑"/>
              </a:rPr>
              <a:t>机理原型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874519"/>
            <a:ext cx="1417320" cy="109728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057400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35C6BA"/>
                </a:solidFill>
                <a:latin typeface="Consolas"/>
                <a:ea typeface="Consolas"/>
              </a:rPr>
              <a:t>1,686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587752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A6B6C4"/>
                </a:solidFill>
                <a:latin typeface="微软雅黑"/>
                <a:ea typeface="微软雅黑"/>
              </a:rPr>
              <a:t>机理节点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0" y="1874519"/>
            <a:ext cx="1417320" cy="109728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2057400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35C6BA"/>
                </a:solidFill>
                <a:latin typeface="Consolas"/>
                <a:ea typeface="Consolas"/>
              </a:rPr>
              <a:t>2,601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2587752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A6B6C4"/>
                </a:solidFill>
                <a:latin typeface="微软雅黑"/>
                <a:ea typeface="微软雅黑"/>
              </a:rPr>
              <a:t>机理关系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3154679"/>
            <a:ext cx="1417320" cy="109728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337560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57C28C"/>
                </a:solidFill>
                <a:latin typeface="Consolas"/>
                <a:ea typeface="Consolas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867911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A6B6C4"/>
                </a:solidFill>
                <a:latin typeface="微软雅黑"/>
                <a:ea typeface="微软雅黑"/>
              </a:rPr>
              <a:t>机理闭环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3154679"/>
            <a:ext cx="1417320" cy="109728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337560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57C28C"/>
                </a:solidFill>
                <a:latin typeface="Consolas"/>
                <a:ea typeface="Consolas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867911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A6B6C4"/>
                </a:solidFill>
                <a:latin typeface="微软雅黑"/>
                <a:ea typeface="微软雅黑"/>
              </a:rPr>
              <a:t>假设鉴别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60" y="3154679"/>
            <a:ext cx="1417320" cy="109728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3337560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35C6BA"/>
                </a:solidFill>
                <a:latin typeface="Consolas"/>
                <a:ea typeface="Consolas"/>
              </a:rPr>
              <a:t>3.0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3867911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A6B6C4"/>
                </a:solidFill>
                <a:latin typeface="微软雅黑"/>
                <a:ea typeface="微软雅黑"/>
              </a:rPr>
              <a:t>平均路径深度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292608" cy="27432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512063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5C6BA"/>
                </a:solidFill>
                <a:latin typeface="Consolas"/>
                <a:ea typeface="Consolas"/>
              </a:rPr>
              <a:t>05 · 创新亮点 · 歧义熵门控 AEG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AF0F5"/>
                </a:solidFill>
                <a:latin typeface="微软雅黑"/>
                <a:ea typeface="微软雅黑"/>
              </a:rPr>
              <a:t>用信息论在检索前主动预测消歧风险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10515600" cy="1051560"/>
          </a:xfrm>
          <a:prstGeom prst="roundRect">
            <a:avLst/>
          </a:prstGeom>
          <a:solidFill>
            <a:srgbClr val="223140"/>
          </a:solidFill>
          <a:ln w="15240">
            <a:solidFill>
              <a:srgbClr val="35C6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12848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35C6BA"/>
                </a:solidFill>
                <a:latin typeface="Consolas"/>
                <a:ea typeface="Consolas"/>
              </a:rPr>
              <a:t>H(c) = − Σ </a:t>
            </a:r>
            <a:r>
              <a:rPr sz="2600" b="1">
                <a:solidFill>
                  <a:srgbClr val="35C6BA"/>
                </a:solidFill>
                <a:latin typeface="Consolas"/>
                <a:ea typeface="Consolas"/>
              </a:rPr>
              <a:t>p</a:t>
            </a:r>
            <a:r>
              <a:rPr sz="1700" b="1" baseline="-25000">
                <a:solidFill>
                  <a:srgbClr val="35C6BA"/>
                </a:solidFill>
                <a:latin typeface="Consolas"/>
                <a:ea typeface="Consolas"/>
              </a:rPr>
              <a:t>i</a:t>
            </a:r>
            <a:r>
              <a:rPr sz="2600" b="1">
                <a:solidFill>
                  <a:srgbClr val="35C6BA"/>
                </a:solidFill>
                <a:latin typeface="Consolas"/>
                <a:ea typeface="Consolas"/>
              </a:rPr>
              <a:t> · log</a:t>
            </a:r>
            <a:r>
              <a:rPr sz="1700" b="1" baseline="-25000">
                <a:solidFill>
                  <a:srgbClr val="35C6BA"/>
                </a:solidFill>
                <a:latin typeface="Consolas"/>
                <a:ea typeface="Consolas"/>
              </a:rPr>
              <a:t>2</a:t>
            </a:r>
            <a:r>
              <a:rPr sz="2600" b="1">
                <a:solidFill>
                  <a:srgbClr val="35C6BA"/>
                </a:solidFill>
                <a:latin typeface="Consolas"/>
                <a:ea typeface="Consolas"/>
              </a:rPr>
              <a:t> p</a:t>
            </a:r>
            <a:r>
              <a:rPr sz="1700" b="1" baseline="-25000">
                <a:solidFill>
                  <a:srgbClr val="35C6BA"/>
                </a:solidFill>
                <a:latin typeface="Consolas"/>
                <a:ea typeface="Consolas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97480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A6B6C4"/>
                </a:solidFill>
                <a:latin typeface="Consolas"/>
                <a:ea typeface="Consolas"/>
              </a:rPr>
              <a:t>p</a:t>
            </a:r>
            <a:r>
              <a:rPr sz="900" b="0" baseline="-25000">
                <a:solidFill>
                  <a:srgbClr val="A6B6C4"/>
                </a:solidFill>
                <a:latin typeface="Consolas"/>
                <a:ea typeface="Consolas"/>
              </a:rPr>
              <a:t>i</a:t>
            </a:r>
            <a:r>
              <a:rPr sz="1350" b="0">
                <a:solidFill>
                  <a:srgbClr val="A6B6C4"/>
                </a:solidFill>
                <a:latin typeface="微软雅黑"/>
                <a:ea typeface="微软雅黑"/>
              </a:rPr>
              <a:t> = 故障码 c 映射到第 i 种含义的概率；H=0 单义直接答，H 越大越该在检索前追问机型。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429000"/>
            <a:ext cx="3429000" cy="228600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3657600"/>
            <a:ext cx="457200" cy="54864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50" b="1">
                <a:solidFill>
                  <a:srgbClr val="EAF0F5"/>
                </a:solidFill>
                <a:latin typeface="微软雅黑"/>
                <a:ea typeface="微软雅黑"/>
              </a:rPr>
              <a:t>被动 → 主动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2880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A6B6C4"/>
                </a:solidFill>
                <a:latin typeface="微软雅黑"/>
                <a:ea typeface="微软雅黑"/>
              </a:rPr>
              <a:t>现有做法检索后发现歧义才提示；AEG 在检索之前用一个标量预测风险，主动决定是否追问。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429000"/>
            <a:ext cx="3429000" cy="228600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3657600"/>
            <a:ext cx="457200" cy="54864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384048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50" b="1">
                <a:solidFill>
                  <a:srgbClr val="EAF0F5"/>
                </a:solidFill>
                <a:latin typeface="微软雅黑"/>
                <a:ea typeface="微软雅黑"/>
              </a:rPr>
              <a:t>可量化 · 可设阈值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4572000"/>
            <a:ext cx="2880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A6B6C4"/>
                </a:solidFill>
                <a:latin typeface="微软雅黑"/>
                <a:ea typeface="微软雅黑"/>
              </a:rPr>
              <a:t>阈值 τ 直接对应'追问成本与误命中'的帕累托工作点，单一可解释度量便于审核。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429000"/>
            <a:ext cx="3429000" cy="228600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3657600"/>
            <a:ext cx="457200" cy="54864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84048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50" b="1">
                <a:solidFill>
                  <a:srgbClr val="EAF0F5"/>
                </a:solidFill>
                <a:latin typeface="微软雅黑"/>
                <a:ea typeface="微软雅黑"/>
              </a:rPr>
              <a:t>零训练 · 零 LLM 调用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572000"/>
            <a:ext cx="2880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A6B6C4"/>
                </a:solidFill>
                <a:latin typeface="微软雅黑"/>
                <a:ea typeface="微软雅黑"/>
              </a:rPr>
              <a:t>熵由知识库含义分布闭式算出，无需训练模型、无需调用大模型，适合本地/离线部署。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292608" cy="27432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512063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5C6BA"/>
                </a:solidFill>
                <a:latin typeface="Consolas"/>
                <a:ea typeface="Consolas"/>
              </a:rPr>
              <a:t>06 · AEG 有效性 · 留一法真实实测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EAF0F5"/>
                </a:solidFill>
                <a:latin typeface="微软雅黑"/>
                <a:ea typeface="微软雅黑"/>
              </a:rPr>
              <a:t>11,476 条真实故障记录，实测而非理论期望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514600" cy="123444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2140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0A94A"/>
                </a:solidFill>
                <a:latin typeface="Consolas"/>
                <a:ea typeface="Consolas"/>
              </a:rPr>
              <a:t>51.7%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9748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A6B6C4"/>
                </a:solidFill>
                <a:latin typeface="微软雅黑"/>
                <a:ea typeface="微软雅黑"/>
              </a:rPr>
              <a:t>留一实测基线误命中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920240"/>
            <a:ext cx="2514600" cy="123444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12140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35C6BA"/>
                </a:solidFill>
                <a:latin typeface="Consolas"/>
                <a:ea typeface="Consolas"/>
              </a:rPr>
              <a:t>0.92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69748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A6B6C4"/>
                </a:solidFill>
                <a:latin typeface="微软雅黑"/>
                <a:ea typeface="微软雅黑"/>
              </a:rPr>
              <a:t>熵·误命中 Spearman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2514600" cy="123444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2140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35C6BA"/>
                </a:solidFill>
                <a:latin typeface="Consolas"/>
                <a:ea typeface="Consolas"/>
              </a:rPr>
              <a:t>0.72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A6B6C4"/>
                </a:solidFill>
                <a:latin typeface="微软雅黑"/>
                <a:ea typeface="微软雅黑"/>
              </a:rPr>
              <a:t>熵·增益 相关(独立验证)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920240"/>
            <a:ext cx="2514600" cy="123444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212140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57C28C"/>
                </a:solidFill>
                <a:latin typeface="Consolas"/>
                <a:ea typeface="Consolas"/>
              </a:rPr>
              <a:t>→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69748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A6B6C4"/>
                </a:solidFill>
                <a:latin typeface="微软雅黑"/>
                <a:ea typeface="微软雅黑"/>
              </a:rPr>
              <a:t>门控 62% 查询后误命中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429000"/>
            <a:ext cx="10515600" cy="786384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429000"/>
            <a:ext cx="54864" cy="786384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547872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35C6BA"/>
                </a:solidFill>
                <a:latin typeface="微软雅黑"/>
                <a:ea typeface="微软雅黑"/>
              </a:rPr>
              <a:t>熵预测误命中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547872"/>
            <a:ext cx="6766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A6B6C4"/>
                </a:solidFill>
                <a:latin typeface="微软雅黑"/>
                <a:ea typeface="微软雅黑"/>
              </a:rPr>
              <a:t>实测误命中率随熵单调上升：单义码 0% → 高熵码(H&gt;2) 90.6%。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297680"/>
            <a:ext cx="10515600" cy="786384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297680"/>
            <a:ext cx="54864" cy="786384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16552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35C6BA"/>
                </a:solidFill>
                <a:latin typeface="微软雅黑"/>
                <a:ea typeface="微软雅黑"/>
              </a:rPr>
              <a:t>门控帕累托最优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416552"/>
            <a:ext cx="6766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A6B6C4"/>
                </a:solidFill>
                <a:latin typeface="微软雅黑"/>
                <a:ea typeface="微软雅黑"/>
              </a:rPr>
              <a:t>相同 30% 追问预算下，熵门控残余误命中 24.4% vs 随机 36.2%，多消除 32.5%。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166360"/>
            <a:ext cx="10515600" cy="786384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5166360"/>
            <a:ext cx="54864" cy="786384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285232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35C6BA"/>
                </a:solidFill>
                <a:latin typeface="微软雅黑"/>
                <a:ea typeface="微软雅黑"/>
              </a:rPr>
              <a:t>增益由熵驱动(独立)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285232"/>
            <a:ext cx="6766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A6B6C4"/>
                </a:solidFill>
                <a:latin typeface="微软雅黑"/>
                <a:ea typeface="微软雅黑"/>
              </a:rPr>
              <a:t>'追问机型'的实测增益与熵相关 0.72，高熵码收益是低熵码 3 倍；单义码追问收益为 0。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748696"/>
                </a:solidFill>
                <a:latin typeface="微软雅黑"/>
                <a:ea typeface="微软雅黑"/>
              </a:rPr>
              <a:t>诚实说明：留一实测比闭式期望(28.8%基线)严峻但结论一致；23.8% 查询因资料不足弃答，不计误命中。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292608" cy="27432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512063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5C6BA"/>
                </a:solidFill>
                <a:latin typeface="Consolas"/>
                <a:ea typeface="Consolas"/>
              </a:rPr>
              <a:t>07 · 相比流行方法的优势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EAF0F5"/>
                </a:solidFill>
                <a:latin typeface="微软雅黑"/>
                <a:ea typeface="微软雅黑"/>
              </a:rPr>
              <a:t>赢在原理与介入时机：检索前的信息论消歧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74519"/>
          <a:ext cx="10515600" cy="4023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417320"/>
                <a:gridCol w="1600200"/>
                <a:gridCol w="1463040"/>
                <a:gridCol w="2651760"/>
              </a:tblGrid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EAF0F5"/>
                          </a:solidFill>
                          <a:latin typeface="微软雅黑"/>
                          <a:ea typeface="微软雅黑"/>
                        </a:rPr>
                        <a:t>方法</a:t>
                      </a:r>
                    </a:p>
                  </a:txBody>
                  <a:tcPr anchor="ctr" marL="109728" marT="27432" marB="27432">
                    <a:solidFill>
                      <a:srgbClr val="1285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AF0F5"/>
                          </a:solidFill>
                          <a:latin typeface="微软雅黑"/>
                          <a:ea typeface="微软雅黑"/>
                        </a:rPr>
                        <a:t>需训练</a:t>
                      </a:r>
                    </a:p>
                  </a:txBody>
                  <a:tcPr anchor="ctr" marL="109728" marT="27432" marB="27432">
                    <a:solidFill>
                      <a:srgbClr val="1285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AF0F5"/>
                          </a:solidFill>
                          <a:latin typeface="微软雅黑"/>
                          <a:ea typeface="微软雅黑"/>
                        </a:rPr>
                        <a:t>需LLM</a:t>
                      </a:r>
                    </a:p>
                  </a:txBody>
                  <a:tcPr anchor="ctr" marL="109728" marT="27432" marB="27432">
                    <a:solidFill>
                      <a:srgbClr val="1285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AF0F5"/>
                          </a:solidFill>
                          <a:latin typeface="微软雅黑"/>
                          <a:ea typeface="微软雅黑"/>
                        </a:rPr>
                        <a:t>时机</a:t>
                      </a:r>
                    </a:p>
                  </a:txBody>
                  <a:tcPr anchor="ctr" marL="109728" marT="27432" marB="27432">
                    <a:solidFill>
                      <a:srgbClr val="1285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AF0F5"/>
                          </a:solidFill>
                          <a:latin typeface="微软雅黑"/>
                          <a:ea typeface="微软雅黑"/>
                        </a:rPr>
                        <a:t>面对不确定</a:t>
                      </a:r>
                    </a:p>
                  </a:txBody>
                  <a:tcPr anchor="ctr" marL="109728" marT="27432" marB="27432">
                    <a:solidFill>
                      <a:srgbClr val="12857C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普通 RAG / 相似度检索</a:t>
                      </a:r>
                    </a:p>
                  </a:txBody>
                  <a:tcPr anchor="ctr" marL="109728" marT="27432" marB="27432">
                    <a:solidFill>
                      <a:srgbClr val="1A2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 anchor="ctr" marL="109728" marT="27432" marB="27432">
                    <a:solidFill>
                      <a:srgbClr val="1A2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生成时</a:t>
                      </a:r>
                    </a:p>
                  </a:txBody>
                  <a:tcPr anchor="ctr" marL="109728" marT="27432" marB="27432">
                    <a:solidFill>
                      <a:srgbClr val="1A2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后置</a:t>
                      </a:r>
                    </a:p>
                  </a:txBody>
                  <a:tcPr anchor="ctr" marL="109728" marT="27432" marB="27432">
                    <a:solidFill>
                      <a:srgbClr val="1A2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直接答(会误命中)</a:t>
                      </a:r>
                    </a:p>
                  </a:txBody>
                  <a:tcPr anchor="ctr" marL="109728" marT="27432" marB="27432">
                    <a:solidFill>
                      <a:srgbClr val="1A2734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Self-RAG / 自适应检索</a:t>
                      </a:r>
                    </a:p>
                  </a:txBody>
                  <a:tcPr anchor="ctr" marL="109728" marT="27432" marB="27432">
                    <a:solidFill>
                      <a:srgbClr val="121C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anchor="ctr" marL="109728" marT="27432" marB="27432">
                    <a:solidFill>
                      <a:srgbClr val="121C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anchor="ctr" marL="109728" marT="27432" marB="27432">
                    <a:solidFill>
                      <a:srgbClr val="121C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检索中</a:t>
                      </a:r>
                    </a:p>
                  </a:txBody>
                  <a:tcPr anchor="ctr" marL="109728" marT="27432" marB="27432">
                    <a:solidFill>
                      <a:srgbClr val="121C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反思后重检索</a:t>
                      </a:r>
                    </a:p>
                  </a:txBody>
                  <a:tcPr anchor="ctr" marL="109728" marT="27432" marB="27432">
                    <a:solidFill>
                      <a:srgbClr val="121C28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Corrective RAG</a:t>
                      </a:r>
                    </a:p>
                  </a:txBody>
                  <a:tcPr anchor="ctr" marL="109728" marT="27432" marB="27432">
                    <a:solidFill>
                      <a:srgbClr val="1A2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anchor="ctr" marL="109728" marT="27432" marB="27432">
                    <a:solidFill>
                      <a:srgbClr val="1A2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anchor="ctr" marL="109728" marT="27432" marB="27432">
                    <a:solidFill>
                      <a:srgbClr val="1A2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检索后</a:t>
                      </a:r>
                    </a:p>
                  </a:txBody>
                  <a:tcPr anchor="ctr" marL="109728" marT="27432" marB="27432">
                    <a:solidFill>
                      <a:srgbClr val="1A2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触发替代检索</a:t>
                      </a:r>
                    </a:p>
                  </a:txBody>
                  <a:tcPr anchor="ctr" marL="109728" marT="27432" marB="27432">
                    <a:solidFill>
                      <a:srgbClr val="1A2734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语义熵 / 答案不确定性</a:t>
                      </a:r>
                    </a:p>
                  </a:txBody>
                  <a:tcPr anchor="ctr" marL="109728" marT="27432" marB="27432">
                    <a:solidFill>
                      <a:srgbClr val="121C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 anchor="ctr" marL="109728" marT="27432" marB="27432">
                    <a:solidFill>
                      <a:srgbClr val="121C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多次采样</a:t>
                      </a:r>
                    </a:p>
                  </a:txBody>
                  <a:tcPr anchor="ctr" marL="109728" marT="27432" marB="27432">
                    <a:solidFill>
                      <a:srgbClr val="121C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后置</a:t>
                      </a:r>
                    </a:p>
                  </a:txBody>
                  <a:tcPr anchor="ctr" marL="109728" marT="27432" marB="27432">
                    <a:solidFill>
                      <a:srgbClr val="121C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标记幻觉</a:t>
                      </a:r>
                    </a:p>
                  </a:txBody>
                  <a:tcPr anchor="ctr" marL="109728" marT="27432" marB="27432">
                    <a:solidFill>
                      <a:srgbClr val="121C28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置信度弃答</a:t>
                      </a:r>
                    </a:p>
                  </a:txBody>
                  <a:tcPr anchor="ctr" marL="109728" marT="27432" marB="27432">
                    <a:solidFill>
                      <a:srgbClr val="1A2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常是</a:t>
                      </a:r>
                    </a:p>
                  </a:txBody>
                  <a:tcPr anchor="ctr" marL="109728" marT="27432" marB="27432">
                    <a:solidFill>
                      <a:srgbClr val="1A2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anchor="ctr" marL="109728" marT="27432" marB="27432">
                    <a:solidFill>
                      <a:srgbClr val="1A2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后置</a:t>
                      </a:r>
                    </a:p>
                  </a:txBody>
                  <a:tcPr anchor="ctr" marL="109728" marT="27432" marB="27432">
                    <a:solidFill>
                      <a:srgbClr val="1A2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A6B6C4"/>
                          </a:solidFill>
                          <a:latin typeface="微软雅黑"/>
                          <a:ea typeface="微软雅黑"/>
                        </a:rPr>
                        <a:t>弃答给人</a:t>
                      </a:r>
                    </a:p>
                  </a:txBody>
                  <a:tcPr anchor="ctr" marL="109728" marT="27432" marB="27432">
                    <a:solidFill>
                      <a:srgbClr val="1A2734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5C6BA"/>
                          </a:solidFill>
                          <a:latin typeface="微软雅黑"/>
                          <a:ea typeface="微软雅黑"/>
                        </a:rPr>
                        <a:t>AEG（本方法）</a:t>
                      </a:r>
                    </a:p>
                  </a:txBody>
                  <a:tcPr anchor="ctr" marL="109728" marT="27432" marB="27432">
                    <a:solidFill>
                      <a:srgbClr val="2231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35C6BA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 anchor="ctr" marL="109728" marT="27432" marB="27432">
                    <a:solidFill>
                      <a:srgbClr val="2231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35C6BA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 anchor="ctr" marL="109728" marT="27432" marB="27432">
                    <a:solidFill>
                      <a:srgbClr val="2231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35C6BA"/>
                          </a:solidFill>
                          <a:latin typeface="微软雅黑"/>
                          <a:ea typeface="微软雅黑"/>
                        </a:rPr>
                        <a:t>检索前</a:t>
                      </a:r>
                    </a:p>
                  </a:txBody>
                  <a:tcPr anchor="ctr" marL="109728" marT="27432" marB="27432">
                    <a:solidFill>
                      <a:srgbClr val="2231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35C6BA"/>
                          </a:solidFill>
                          <a:latin typeface="微软雅黑"/>
                          <a:ea typeface="微软雅黑"/>
                        </a:rPr>
                        <a:t>主动问机型消除不确定</a:t>
                      </a:r>
                    </a:p>
                  </a:txBody>
                  <a:tcPr anchor="ctr" marL="109728" marT="27432" marB="27432">
                    <a:solidFill>
                      <a:srgbClr val="2231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080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A6B6C4"/>
                </a:solidFill>
                <a:latin typeface="微软雅黑"/>
                <a:ea typeface="微软雅黑"/>
              </a:rPr>
              <a:t>原理定位：把消歧从检索后的启发式补救，提前为检索前的信息论门控——用零成本熵标量主动决定'该不该问机型'，而非事后纠错或被动拒答。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15568"/>
            <a:ext cx="292608" cy="27432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96926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5C6BA"/>
                </a:solidFill>
                <a:latin typeface="Consolas"/>
                <a:ea typeface="Consolas"/>
              </a:rPr>
              <a:t>08 · 部署与价值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EAF0F5"/>
                </a:solidFill>
                <a:latin typeface="微软雅黑"/>
                <a:ea typeface="微软雅黑"/>
              </a:rPr>
              <a:t>能安全上线的本地化风电诊断底座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5166360" cy="137160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743200"/>
            <a:ext cx="54864" cy="1371600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4436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EAF0F5"/>
                </a:solidFill>
                <a:latin typeface="微软雅黑"/>
                <a:ea typeface="微软雅黑"/>
              </a:rPr>
              <a:t>数据不出内网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4709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A6B6C4"/>
                </a:solidFill>
                <a:latin typeface="微软雅黑"/>
                <a:ea typeface="微软雅黑"/>
              </a:rPr>
              <a:t>本地/内网模型 + 离线嵌入(hash/本地)，风场资料与检修经验不外发。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743200"/>
            <a:ext cx="5166360" cy="137160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2743200"/>
            <a:ext cx="54864" cy="1371600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94436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EAF0F5"/>
                </a:solidFill>
                <a:latin typeface="微软雅黑"/>
                <a:ea typeface="微软雅黑"/>
              </a:rPr>
              <a:t>可核查可审计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429000"/>
            <a:ext cx="4709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A6B6C4"/>
                </a:solidFill>
                <a:latin typeface="微软雅黑"/>
                <a:ea typeface="微软雅黑"/>
              </a:rPr>
              <a:t>答案回到本地资料来源，满足运维审核；机理链支撑可证伪根因。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97680"/>
            <a:ext cx="5166360" cy="137160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297680"/>
            <a:ext cx="54864" cy="1371600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9884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EAF0F5"/>
                </a:solidFill>
                <a:latin typeface="微软雅黑"/>
                <a:ea typeface="微软雅黑"/>
              </a:rPr>
              <a:t>贴合现场节奏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83480"/>
            <a:ext cx="4709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A6B6C4"/>
                </a:solidFill>
                <a:latin typeface="微软雅黑"/>
                <a:ea typeface="微软雅黑"/>
              </a:rPr>
              <a:t>短反馈续推、每轮只推一个动作，契合登机作业交互。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297680"/>
            <a:ext cx="5166360" cy="1371600"/>
          </a:xfrm>
          <a:prstGeom prst="roundRect">
            <a:avLst/>
          </a:prstGeom>
          <a:solidFill>
            <a:srgbClr val="1A2734"/>
          </a:solidFill>
          <a:ln w="12700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4297680"/>
            <a:ext cx="54864" cy="1371600"/>
          </a:xfrm>
          <a:prstGeom prst="rect">
            <a:avLst/>
          </a:prstGeom>
          <a:solidFill>
            <a:srgbClr val="35C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49884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EAF0F5"/>
                </a:solidFill>
                <a:latin typeface="微软雅黑"/>
                <a:ea typeface="微软雅黑"/>
              </a:rPr>
              <a:t>论文/专利就绪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983480"/>
            <a:ext cx="4709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A6B6C4"/>
                </a:solidFill>
                <a:latin typeface="微软雅黑"/>
                <a:ea typeface="微软雅黑"/>
              </a:rPr>
              <a:t>AEG 有实测支撑、论文章节与专利权利要求齐备。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748696"/>
                </a:solidFill>
                <a:latin typeface="微软雅黑"/>
                <a:ea typeface="微软雅黑"/>
              </a:rPr>
              <a:t>Windrise 风起时域 · 面向风电机组故障处理的本地化知识构建、检索增强问答系统及方法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